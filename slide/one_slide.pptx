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70432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2000" cy="54864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69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Slow &amp; Steady: prompt changes ship on evidence, not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31520"/>
            <a:ext cx="11369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>
                <a:solidFill>
                  <a:srgbClr val="F3D58F"/>
                </a:solidFill>
                <a:latin typeface="Calibri"/>
              </a:rPr>
              <a:t>Winner promoted on day 16: ≈ +240 Meeting Fixed a week. Harmful variant stopped on day 10: ≈ 246 a week protected.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89888"/>
            <a:ext cx="46177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3366"/>
                </a:solidFill>
                <a:latin typeface="Calibri"/>
              </a:rPr>
              <a:t>RESULT: TWO SIMULATED A/B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4617720" cy="27432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_z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4617720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5257800"/>
            <a:ext cx="64008" cy="8229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5212080"/>
            <a:ext cx="202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003366"/>
                </a:solidFill>
                <a:latin typeface="Calibri"/>
              </a:rPr>
              <a:t>≈ +240 / week</a:t>
            </a:r>
          </a:p>
          <a:p>
            <a:pPr algn="l">
              <a:spcBef>
                <a:spcPts val="0"/>
              </a:spcBef>
            </a:pPr>
            <a:r>
              <a:rPr sz="1300" b="1">
                <a:solidFill>
                  <a:srgbClr val="1A202C"/>
                </a:solidFill>
                <a:latin typeface="Calibri"/>
              </a:rPr>
              <a:t>Meeting Fixed gained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Promoted on day 16 (look 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5257800"/>
            <a:ext cx="64008" cy="822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5212080"/>
            <a:ext cx="202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C8102E"/>
                </a:solidFill>
                <a:latin typeface="Calibri"/>
              </a:rPr>
              <a:t>≈ 246 / week</a:t>
            </a:r>
          </a:p>
          <a:p>
            <a:pPr algn="l">
              <a:spcBef>
                <a:spcPts val="0"/>
              </a:spcBef>
            </a:pPr>
            <a:r>
              <a:rPr sz="1300" b="1">
                <a:solidFill>
                  <a:srgbClr val="1A202C"/>
                </a:solidFill>
                <a:latin typeface="Calibri"/>
              </a:rPr>
              <a:t>Meeting Fixed protected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Stopped on day 10 (look 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389888"/>
            <a:ext cx="37947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3366"/>
                </a:solidFill>
                <a:latin typeface="Calibri"/>
              </a:rPr>
              <a:t>METHOD AND DECISION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691640"/>
            <a:ext cx="3794760" cy="27432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438144"/>
            <a:ext cx="3794760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5A6472"/>
                </a:solidFill>
                <a:latin typeface="Calibri"/>
              </a:rPr>
              <a:t>At every look, in this order; the first match decides:</a:t>
            </a:r>
          </a:p>
        </p:txBody>
      </p:sp>
      <p:sp>
        <p:nvSpPr>
          <p:cNvPr id="16" name="Oval 15"/>
          <p:cNvSpPr/>
          <p:nvPr/>
        </p:nvSpPr>
        <p:spPr>
          <a:xfrm>
            <a:off x="5404104" y="2157984"/>
            <a:ext cx="128016" cy="12801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1856231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Unit:</a:t>
            </a:r>
            <a:r>
              <a:rPr sz="1350" b="0">
                <a:solidFill>
                  <a:srgbClr val="1A202C"/>
                </a:solidFill>
                <a:latin typeface="Calibri"/>
              </a:rPr>
              <a:t> the lead, from its first answered call; stats per lead, never per call.</a:t>
            </a:r>
          </a:p>
        </p:txBody>
      </p:sp>
      <p:sp>
        <p:nvSpPr>
          <p:cNvPr id="18" name="Oval 17"/>
          <p:cNvSpPr/>
          <p:nvPr/>
        </p:nvSpPr>
        <p:spPr>
          <a:xfrm>
            <a:off x="5404104" y="2944368"/>
            <a:ext cx="128016" cy="12801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642615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Alpha spending:</a:t>
            </a:r>
            <a:r>
              <a:rPr sz="1350" b="0">
                <a:solidFill>
                  <a:srgbClr val="1A202C"/>
                </a:solidFill>
                <a:latin typeface="Calibri"/>
              </a:rPr>
              <a:t> O'Brien-Fleming win (α 2.5%), no lucky early wins; Pocock harm (α 5%), fast stops; any number of looks.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0" y="3959352"/>
            <a:ext cx="329184" cy="329184"/>
          </a:xfrm>
          <a:prstGeom prst="ellipse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3366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758184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SRM halts:</a:t>
            </a:r>
            <a:r>
              <a:rPr sz="1350" b="0">
                <a:solidFill>
                  <a:srgbClr val="1A202C"/>
                </a:solidFill>
                <a:latin typeface="Calibri"/>
              </a:rPr>
              <a:t> split off its 10% (χ² p &lt; 0.001): results untrusted, all traffic to A.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0" y="4745736"/>
            <a:ext cx="329184" cy="329184"/>
          </a:xfrm>
          <a:prstGeom prst="ellipse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3366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4544568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Stop early:</a:t>
            </a:r>
            <a:r>
              <a:rPr sz="1350" b="0">
                <a:solidFill>
                  <a:srgbClr val="1A202C"/>
                </a:solidFill>
                <a:latin typeface="Calibri"/>
              </a:rPr>
              <a:t> z ≤ harm boundary, or the call duration guardrail's repeated CI fully beyond +10%.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0" y="5532120"/>
            <a:ext cx="329184" cy="329184"/>
          </a:xfrm>
          <a:prstGeom prst="ellipse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336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30952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Promote:</a:t>
            </a:r>
            <a:r>
              <a:rPr sz="1350" b="0">
                <a:solidFill>
                  <a:srgbClr val="1A202C"/>
                </a:solidFill>
                <a:latin typeface="Calibri"/>
              </a:rPr>
              <a:t> z ≥ win boundary and the guardrail's repeated CI inside +10%.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389888"/>
            <a:ext cx="240487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3366"/>
                </a:solidFill>
                <a:latin typeface="Calibri"/>
              </a:rPr>
              <a:t>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1691640"/>
            <a:ext cx="2404872" cy="27432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72600" y="1874519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Route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Sticky hash buckets, 90%/10%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Achieved B 9.9%, 0 in both arms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465308" y="2619756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372600" y="2779776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Track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Exposures and calls per lead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0465308" y="3525012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372600" y="3685031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Analyse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z, CIs, repeated CIs per look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10465308" y="4430268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2600" y="4590288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First match: SRM, harm, win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Else, at the last look: A stays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465308" y="5335524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72600" y="5495544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3366"/>
                </a:solidFill>
                <a:latin typeface="Calibri"/>
              </a:rPr>
              <a:t>Roll out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1A202C"/>
                </a:solidFill>
                <a:latin typeface="Calibri"/>
              </a:rPr>
              <a:t>Live allocation + audit log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6309360"/>
            <a:ext cx="11369040" cy="13716"/>
          </a:xfrm>
          <a:prstGeom prst="rect">
            <a:avLst/>
          </a:prstGeom>
          <a:solidFill>
            <a:srgbClr val="D5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345936"/>
            <a:ext cx="11369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Simulated traffic from historical Vani meeting calls, replayed with injected effects the engine never sees (true lift +24% / −29%; engine estimated +23% / −24%).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A/A check: 2.30% false wins in 2,000 no-effect runs. Weekly figures: engine estimate at 100% rollout. Sources: the store's decision log, reports/validation.md.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