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2000" cy="54864"/>
          </a:xfrm>
          <a:prstGeom prst="rect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69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Vani Lab: prompt changes ship on evidence, not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69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F3D58F"/>
                </a:solidFill>
                <a:latin typeface="Calibri"/>
              </a:rPr>
              <a:t>Winner promoted on day 16: ≈ +240 Meeting Fixed a week. Harmful variant stopped on day 10: ≈ 246 a week protected.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461772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3366"/>
                </a:solidFill>
                <a:latin typeface="Calibri"/>
              </a:rPr>
              <a:t>RESULT: TWO SIMULATED A/B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4617720" cy="27432"/>
          </a:xfrm>
          <a:prstGeom prst="rect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_z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4617720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5257800"/>
            <a:ext cx="64008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5212080"/>
            <a:ext cx="202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003366"/>
                </a:solidFill>
                <a:latin typeface="Calibri"/>
              </a:rPr>
              <a:t>≈ +240 / week</a:t>
            </a:r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1A202C"/>
                </a:solidFill>
                <a:latin typeface="Calibri"/>
              </a:rPr>
              <a:t>Meeting Fixed gained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472"/>
                </a:solidFill>
                <a:latin typeface="Calibri"/>
              </a:rPr>
              <a:t>Promoted on day 16 (look 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5257800"/>
            <a:ext cx="64008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5212080"/>
            <a:ext cx="202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8102E"/>
                </a:solidFill>
                <a:latin typeface="Calibri"/>
              </a:rPr>
              <a:t>≈ 246 / week</a:t>
            </a:r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1A202C"/>
                </a:solidFill>
                <a:latin typeface="Calibri"/>
              </a:rPr>
              <a:t>Meeting Fixed protected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472"/>
                </a:solidFill>
                <a:latin typeface="Calibri"/>
              </a:rPr>
              <a:t>Stopped on day 10 (look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389888"/>
            <a:ext cx="37947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3366"/>
                </a:solidFill>
                <a:latin typeface="Calibri"/>
              </a:rPr>
              <a:t>METHOD AND DECISION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691640"/>
            <a:ext cx="3794760" cy="27432"/>
          </a:xfrm>
          <a:prstGeom prst="rect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438144"/>
            <a:ext cx="3794760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5A6472"/>
                </a:solidFill>
                <a:latin typeface="Calibri"/>
              </a:rPr>
              <a:t>At every look, in this order; the first match decides:</a:t>
            </a:r>
          </a:p>
        </p:txBody>
      </p:sp>
      <p:sp>
        <p:nvSpPr>
          <p:cNvPr id="16" name="Oval 15"/>
          <p:cNvSpPr/>
          <p:nvPr/>
        </p:nvSpPr>
        <p:spPr>
          <a:xfrm>
            <a:off x="5404104" y="2157984"/>
            <a:ext cx="128016" cy="128016"/>
          </a:xfrm>
          <a:prstGeom prst="ellipse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856231"/>
            <a:ext cx="3337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003366"/>
                </a:solidFill>
                <a:latin typeface="Calibri"/>
              </a:rPr>
              <a:t>Unit:</a:t>
            </a:r>
            <a:r>
              <a:rPr sz="1350" b="0">
                <a:solidFill>
                  <a:srgbClr val="1A202C"/>
                </a:solidFill>
                <a:latin typeface="Calibri"/>
              </a:rPr>
              <a:t> the lead, from its first answered call; stats per lead, never per call.</a:t>
            </a:r>
          </a:p>
        </p:txBody>
      </p:sp>
      <p:sp>
        <p:nvSpPr>
          <p:cNvPr id="18" name="Oval 17"/>
          <p:cNvSpPr/>
          <p:nvPr/>
        </p:nvSpPr>
        <p:spPr>
          <a:xfrm>
            <a:off x="5404104" y="2944368"/>
            <a:ext cx="128016" cy="128016"/>
          </a:xfrm>
          <a:prstGeom prst="ellipse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642615"/>
            <a:ext cx="3337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003366"/>
                </a:solidFill>
                <a:latin typeface="Calibri"/>
              </a:rPr>
              <a:t>Alpha spending:</a:t>
            </a:r>
            <a:r>
              <a:rPr sz="1350" b="0">
                <a:solidFill>
                  <a:srgbClr val="1A202C"/>
                </a:solidFill>
                <a:latin typeface="Calibri"/>
              </a:rPr>
              <a:t> O'Brien-Fleming win (α 2.5%), no lucky early wins; Pocock harm (α 5%), fast stops; any number of looks.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0" y="3959352"/>
            <a:ext cx="329184" cy="329184"/>
          </a:xfrm>
          <a:prstGeom prst="ellipse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003366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58184"/>
            <a:ext cx="3337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003366"/>
                </a:solidFill>
                <a:latin typeface="Calibri"/>
              </a:rPr>
              <a:t>SRM halts:</a:t>
            </a:r>
            <a:r>
              <a:rPr sz="1350" b="0">
                <a:solidFill>
                  <a:srgbClr val="1A202C"/>
                </a:solidFill>
                <a:latin typeface="Calibri"/>
              </a:rPr>
              <a:t> split off its 10% (χ² p &lt; 0.001): results untrusted, all traffic to A.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0" y="4745736"/>
            <a:ext cx="329184" cy="329184"/>
          </a:xfrm>
          <a:prstGeom prst="ellipse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003366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544568"/>
            <a:ext cx="3337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003366"/>
                </a:solidFill>
                <a:latin typeface="Calibri"/>
              </a:rPr>
              <a:t>Stop early:</a:t>
            </a:r>
            <a:r>
              <a:rPr sz="1350" b="0">
                <a:solidFill>
                  <a:srgbClr val="1A202C"/>
                </a:solidFill>
                <a:latin typeface="Calibri"/>
              </a:rPr>
              <a:t> z ≤ harm boundary, or the call duration guardrail's repeated CI fully beyond +10%.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0" y="5532120"/>
            <a:ext cx="329184" cy="329184"/>
          </a:xfrm>
          <a:prstGeom prst="ellipse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003366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30952"/>
            <a:ext cx="3337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003366"/>
                </a:solidFill>
                <a:latin typeface="Calibri"/>
              </a:rPr>
              <a:t>Promote:</a:t>
            </a:r>
            <a:r>
              <a:rPr sz="1350" b="0">
                <a:solidFill>
                  <a:srgbClr val="1A202C"/>
                </a:solidFill>
                <a:latin typeface="Calibri"/>
              </a:rPr>
              <a:t> z ≥ win boundary and the guardrail's repeated CI inside +10%.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389888"/>
            <a:ext cx="2404872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3366"/>
                </a:solidFill>
                <a:latin typeface="Calibri"/>
              </a:rPr>
              <a:t>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1691640"/>
            <a:ext cx="2404872" cy="27432"/>
          </a:xfrm>
          <a:prstGeom prst="rect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72600" y="1874519"/>
            <a:ext cx="2404872" cy="722376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Route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Sticky hash buckets, 90%/10%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Achieved B 9.9%, 0 in both arms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465308" y="2619756"/>
            <a:ext cx="219456" cy="137160"/>
          </a:xfrm>
          <a:prstGeom prst="downArrow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2779776"/>
            <a:ext cx="2404872" cy="722376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Track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Exposures and calls per lead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0465308" y="3525012"/>
            <a:ext cx="219456" cy="137160"/>
          </a:xfrm>
          <a:prstGeom prst="downArrow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72600" y="3685031"/>
            <a:ext cx="2404872" cy="722376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Analyse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z, CIs, repeated CIs per look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0465308" y="4430268"/>
            <a:ext cx="219456" cy="137160"/>
          </a:xfrm>
          <a:prstGeom prst="downArrow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72600" y="4590288"/>
            <a:ext cx="2404872" cy="722376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Decide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First match: SRM, harm, win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DCE5EF"/>
                </a:solidFill>
                <a:latin typeface="Calibri"/>
              </a:rPr>
              <a:t>Else, at the last look: A stays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10465308" y="5335524"/>
            <a:ext cx="219456" cy="137160"/>
          </a:xfrm>
          <a:prstGeom prst="downArrow">
            <a:avLst/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72600" y="5495544"/>
            <a:ext cx="2404872" cy="722376"/>
          </a:xfrm>
          <a:prstGeom prst="roundRect">
            <a:avLst>
              <a:gd name="adj" fmla="val 12000"/>
            </a:avLst>
          </a:prstGeom>
          <a:solidFill>
            <a:srgbClr val="E8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3366"/>
                </a:solidFill>
                <a:latin typeface="Calibri"/>
              </a:rPr>
              <a:t>Roll out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1A202C"/>
                </a:solidFill>
                <a:latin typeface="Calibri"/>
              </a:rPr>
              <a:t>Live allocation + audit 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309360"/>
            <a:ext cx="11369040" cy="13716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345936"/>
            <a:ext cx="1136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A6472"/>
                </a:solidFill>
                <a:latin typeface="Calibri"/>
              </a:rPr>
              <a:t>Simulated traffic from historical Vani meeting calls, replayed with injected effects the engine never sees (true lift +24% / −29%; engine estimated +23% / −24%).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472"/>
                </a:solidFill>
                <a:latin typeface="Calibri"/>
              </a:rPr>
              <a:t>A/A check: 2.30% false wins in 2,000 no-effect runs. Weekly figures: engine estimate at 100% rollout. Sources: the store's decision log, reports/validation.md.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